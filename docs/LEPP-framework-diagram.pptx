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0" d="100"/>
          <a:sy n="120" d="100"/>
        </p:scale>
        <p:origin x="-782" y="-18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11274552" cy="674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 dirty="0">
                <a:solidFill>
                  <a:srgbClr val="FFFFFF"/>
                </a:solidFill>
                <a:latin typeface="Calibri"/>
              </a:rPr>
              <a:t>Learn – Explore – Practice – Play  (LEPP)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dirty="0" err="1">
                <a:solidFill>
                  <a:srgbClr val="C9D6E3"/>
                </a:solidFill>
                <a:latin typeface="Calibri"/>
              </a:rPr>
              <a:t>MuLERMoCs</a:t>
            </a:r>
            <a:r>
              <a:rPr sz="1100" b="0" dirty="0">
                <a:solidFill>
                  <a:srgbClr val="C9D6E3"/>
                </a:solidFill>
                <a:latin typeface="Calibri"/>
              </a:rPr>
              <a:t>-  ·  Greek-first organic nomenclature  ·  </a:t>
            </a:r>
            <a:r>
              <a:rPr sz="1100" b="0" dirty="0" err="1">
                <a:solidFill>
                  <a:srgbClr val="C9D6E3"/>
                </a:solidFill>
                <a:latin typeface="Calibri"/>
              </a:rPr>
              <a:t>multirepresentational</a:t>
            </a:r>
            <a:r>
              <a:rPr sz="1100" b="0" dirty="0">
                <a:solidFill>
                  <a:srgbClr val="C9D6E3"/>
                </a:solidFill>
                <a:latin typeface="Calibri"/>
              </a:rPr>
              <a:t> progression  LEARN → EXPLORE-lite → PRACTICE →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32688"/>
            <a:ext cx="103601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4E68"/>
                </a:solidFill>
                <a:latin typeface="Calibri"/>
              </a:rPr>
              <a:t>SCAFFOLDING  HIGH   ──▶   LOW        |        Teacher control   ──▶   Learner autonomy        |        Bloom: Understand ─▶ Apply ─▶ Evaluate</a:t>
            </a:r>
          </a:p>
        </p:txBody>
      </p:sp>
      <p:sp>
        <p:nvSpPr>
          <p:cNvPr id="5" name="Pentagon 4"/>
          <p:cNvSpPr/>
          <p:nvPr/>
        </p:nvSpPr>
        <p:spPr>
          <a:xfrm>
            <a:off x="1152144" y="1389888"/>
            <a:ext cx="2743200" cy="2971800"/>
          </a:xfrm>
          <a:prstGeom prst="homePlat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" y="1481328"/>
            <a:ext cx="2651760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dirty="0">
                <a:solidFill>
                  <a:srgbClr val="FFFFFF"/>
                </a:solidFill>
                <a:latin typeface="Calibri"/>
              </a:rPr>
              <a:t>◉  1 · LEARN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dirty="0">
                <a:solidFill>
                  <a:srgbClr val="FFFFFF"/>
                </a:solidFill>
                <a:latin typeface="Calibri"/>
              </a:rPr>
              <a:t>Teacher-guided scenarios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dirty="0">
                <a:solidFill>
                  <a:srgbClr val="FFFFFF"/>
                </a:solidFill>
                <a:latin typeface="Calibri"/>
              </a:rPr>
              <a:t>linear steps · ?scenario=&amp;present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dirty="0">
                <a:solidFill>
                  <a:srgbClr val="D6E4F0"/>
                </a:solidFill>
                <a:latin typeface="Calibri"/>
              </a:rPr>
              <a:t>64-mol engine · 2D+3D sync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 dirty="0">
                <a:solidFill>
                  <a:srgbClr val="FFE08A"/>
                </a:solidFill>
                <a:latin typeface="Calibri"/>
              </a:rPr>
              <a:t>● scaffold live (7-step ethane)</a:t>
            </a:r>
          </a:p>
        </p:txBody>
      </p:sp>
      <p:sp>
        <p:nvSpPr>
          <p:cNvPr id="7" name="Chevron 6"/>
          <p:cNvSpPr/>
          <p:nvPr/>
        </p:nvSpPr>
        <p:spPr>
          <a:xfrm>
            <a:off x="2743200" y="1389888"/>
            <a:ext cx="3621024" cy="2971800"/>
          </a:xfrm>
          <a:prstGeom prst="chevron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72484" y="1481328"/>
            <a:ext cx="2331720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dirty="0">
                <a:solidFill>
                  <a:srgbClr val="FFFFFF"/>
                </a:solidFill>
                <a:latin typeface="Calibri"/>
              </a:rPr>
              <a:t>◎  2 · EXPLORE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dirty="0">
                <a:solidFill>
                  <a:srgbClr val="FFFFFF"/>
                </a:solidFill>
                <a:latin typeface="Calibri"/>
              </a:rPr>
              <a:t>Free menu browsing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dirty="0">
                <a:solidFill>
                  <a:srgbClr val="FFFFFF"/>
                </a:solidFill>
                <a:latin typeface="Calibri"/>
              </a:rPr>
              <a:t>series-first · condensed / skeletal / 3D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dirty="0">
                <a:solidFill>
                  <a:srgbClr val="D3F0E4"/>
                </a:solidFill>
                <a:latin typeface="Calibri"/>
              </a:rPr>
              <a:t>learner-controlled switching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 dirty="0">
                <a:solidFill>
                  <a:srgbClr val="FFE08A"/>
                </a:solidFill>
                <a:latin typeface="Calibri"/>
              </a:rPr>
              <a:t>● live → bounded lite (~15 mols)</a:t>
            </a:r>
          </a:p>
        </p:txBody>
      </p:sp>
      <p:sp>
        <p:nvSpPr>
          <p:cNvPr id="9" name="Chevron 8"/>
          <p:cNvSpPr/>
          <p:nvPr/>
        </p:nvSpPr>
        <p:spPr>
          <a:xfrm>
            <a:off x="5191432" y="1389888"/>
            <a:ext cx="3641672" cy="2971800"/>
          </a:xfrm>
          <a:prstGeom prst="chevron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4544" y="1481328"/>
            <a:ext cx="2331720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✎  3 · PRACTICE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Until-correct exercises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name↔structure · click-the-group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DEBD0"/>
                </a:solidFill>
                <a:latin typeface="Calibri"/>
              </a:rPr>
              <a:t>corrective feedback · attempts counted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○ v1 planned · 3 types max</a:t>
            </a:r>
          </a:p>
        </p:txBody>
      </p:sp>
      <p:sp>
        <p:nvSpPr>
          <p:cNvPr id="11" name="Chevron 10"/>
          <p:cNvSpPr/>
          <p:nvPr/>
        </p:nvSpPr>
        <p:spPr>
          <a:xfrm>
            <a:off x="7568871" y="1389888"/>
            <a:ext cx="3733113" cy="2971800"/>
          </a:xfrm>
          <a:prstGeom prst="chevron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50224" y="1481328"/>
            <a:ext cx="2331720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dirty="0">
                <a:solidFill>
                  <a:srgbClr val="FFFFFF"/>
                </a:solidFill>
                <a:latin typeface="Calibri"/>
              </a:rPr>
              <a:t>★  4 · PLAY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dirty="0">
                <a:solidFill>
                  <a:srgbClr val="FFFFFF"/>
                </a:solidFill>
                <a:latin typeface="Calibri"/>
              </a:rPr>
              <a:t>Gamified quiz + logging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dirty="0">
                <a:solidFill>
                  <a:srgbClr val="FFFFFF"/>
                </a:solidFill>
                <a:latin typeface="Calibri"/>
              </a:rPr>
              <a:t>score / streak / levels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dirty="0" err="1">
                <a:solidFill>
                  <a:srgbClr val="E8DAEF"/>
                </a:solidFill>
                <a:latin typeface="Calibri"/>
              </a:rPr>
              <a:t>response+time</a:t>
            </a:r>
            <a:r>
              <a:rPr sz="900" b="0" dirty="0">
                <a:solidFill>
                  <a:srgbClr val="E8DAEF"/>
                </a:solidFill>
                <a:latin typeface="Calibri"/>
              </a:rPr>
              <a:t> → Drupal CSV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 dirty="0">
                <a:solidFill>
                  <a:srgbClr val="FFFFFF"/>
                </a:solidFill>
                <a:latin typeface="Calibri"/>
              </a:rPr>
              <a:t>○ research-primary · EPAL vs Lyceum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11274552" cy="1481328"/>
          </a:xfrm>
          <a:prstGeom prst="roundRect">
            <a:avLst/>
          </a:prstGeom>
          <a:solidFill>
            <a:srgbClr val="EFF3F7"/>
          </a:solidFill>
          <a:ln w="12700">
            <a:solidFill>
              <a:srgbClr val="B9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590288"/>
            <a:ext cx="2651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6324A"/>
                </a:solidFill>
                <a:latin typeface="Calibri"/>
              </a:rPr>
              <a:t>LEARN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334E68"/>
                </a:solidFill>
                <a:latin typeface="Calibri"/>
              </a:rPr>
              <a:t>CTML contiguity
DeFT constraining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4590288"/>
            <a:ext cx="2651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6324A"/>
                </a:solidFill>
                <a:latin typeface="Calibri"/>
              </a:rPr>
              <a:t>EXPLORE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334E68"/>
                </a:solidFill>
                <a:latin typeface="Calibri"/>
              </a:rPr>
              <a:t>DeFT complementary +
constructive · inquiry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4590288"/>
            <a:ext cx="2651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6324A"/>
                </a:solidFill>
                <a:latin typeface="Calibri"/>
              </a:rPr>
              <a:t>PRACTICE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334E68"/>
                </a:solidFill>
                <a:latin typeface="Calibri"/>
              </a:rPr>
              <a:t>testing effect · deliberate
practice · formative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4590288"/>
            <a:ext cx="2651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6324A"/>
                </a:solidFill>
                <a:latin typeface="Calibri"/>
              </a:rPr>
              <a:t>PLAY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334E68"/>
                </a:solidFill>
                <a:latin typeface="Calibri"/>
              </a:rPr>
              <a:t>SDT (autonomy·competence)
Flow · gamified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B7186"/>
                </a:solidFill>
                <a:latin typeface="Calibri"/>
              </a:rPr>
              <a:t>Overall arc = Gradual Release of Responsibility / scaffolding (Vygotsky ZPD)      ■ Documented: CTML (Mayer 2009) + DeFT (Ainsworth 1999, 2006)      □ Interpretive: GRR / Bloom / SDT /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53328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7A8CA0"/>
                </a:solidFill>
                <a:latin typeface="Calibri"/>
              </a:rPr>
              <a:t>v44 engine: JSME 2D (condensed / expanded / skeletal) + JSmol 3D + synchronized highlighting + Greek TTS  ·  Fading sequence: Condensed → Expanded → Annotated skeletal → Skeletal → 3D  ·  Refs: Mayer (2009) Multimedia Learning; Ainsworth (1999, 2006) DeFT  ·  Source: docs/LAYERS-PLAN.md §1–5, RESEARCH-PLAN.md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284</Words>
  <Application>Microsoft Office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Nikolaos Charistos</cp:lastModifiedBy>
  <cp:revision>2</cp:revision>
  <dcterms:created xsi:type="dcterms:W3CDTF">2013-01-27T09:14:16Z</dcterms:created>
  <dcterms:modified xsi:type="dcterms:W3CDTF">2026-10-12T17:19:43Z</dcterms:modified>
  <cp:category/>
</cp:coreProperties>
</file>